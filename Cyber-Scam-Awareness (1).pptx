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Exo"/>
      <p:regular r:id="rId201314"/>
    </p:embeddedFont>
    <p:embeddedFont>
      <p:font typeface="Exo SemiBold"/>
      <p:regular r:id="rId201315"/>
    </p:embeddedFont>
    <p:embeddedFont>
      <p:font typeface="Exo Bold"/>
      <p:regular r:id="rId201316"/>
    </p:embeddedFont>
    <p:embeddedFont>
      <p:font typeface="Fira Mono Medium"/>
      <p:regular r:id="rId201317"/>
    </p:embeddedFont>
    <p:embeddedFont>
      <p:font typeface="Fira Mono Bold"/>
      <p:regular r:id="rId201318"/>
    </p:embeddedFont>
    <p:embeddedFont>
      <p:font typeface="Fira Mono"/>
      <p:regular r:id="rId201319"/>
    </p:embeddedFont>
    <p:embeddedFont>
      <p:font typeface="Michroma"/>
      <p:regular r:id="rId2013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3" Type="http://schemas.openxmlformats.org/officeDocument/2006/relationships/image" Target="../media/image-1002-3.png"/><Relationship Id="rId5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3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3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2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B55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1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3407" y="840422"/>
            <a:ext cx="7372166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FFFFFF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DIGITAL SAFETY · STUDENT AWARENESS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3407" y="1149755"/>
            <a:ext cx="6762581" cy="1576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5800" spc="-70" kern="100" dirty="0">
                <a:solidFill>
                  <a:srgbClr val="FFFFFF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Cyber Scam</a:t>
            </a:r>
            <a:endParaRPr lang="en-US" sz="5800" dirty="0"/>
          </a:p>
          <a:p>
            <a:pPr algn="l" indent="0" marL="0">
              <a:lnSpc>
                <a:spcPct val="89000"/>
              </a:lnSpc>
              <a:buNone/>
            </a:pPr>
            <a:r>
              <a:rPr lang="en-US" sz="5800" spc="-70" kern="100" dirty="0">
                <a:solidFill>
                  <a:srgbClr val="FFFFFF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Awareness</a:t>
            </a:r>
            <a:endParaRPr lang="en-US" sz="5800" dirty="0"/>
          </a:p>
        </p:txBody>
      </p:sp>
      <p:sp>
        <p:nvSpPr>
          <p:cNvPr id="4" name="Shape 2"/>
          <p:cNvSpPr/>
          <p:nvPr/>
        </p:nvSpPr>
        <p:spPr>
          <a:xfrm>
            <a:off x="733407" y="2919809"/>
            <a:ext cx="1690645" cy="38100"/>
          </a:xfrm>
          <a:prstGeom prst="roundRect">
            <a:avLst>
              <a:gd name="adj" fmla="val 49999"/>
            </a:avLst>
          </a:prstGeom>
          <a:solidFill>
            <a:srgbClr val="9BE1FF"/>
          </a:solidFill>
          <a:ln/>
        </p:spPr>
      </p:sp>
      <p:sp>
        <p:nvSpPr>
          <p:cNvPr id="5" name="Text 3"/>
          <p:cNvSpPr/>
          <p:nvPr/>
        </p:nvSpPr>
        <p:spPr>
          <a:xfrm>
            <a:off x="733407" y="3343418"/>
            <a:ext cx="6762581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Stay alert, stay safe, protect your digital life.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33407" y="3805674"/>
            <a:ext cx="1690645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FFFFFF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PRESENTER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3407" y="4099322"/>
            <a:ext cx="1690645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[Name]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627247" y="3805674"/>
            <a:ext cx="148745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FFFFFF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DEPARTMENT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27247" y="4099322"/>
            <a:ext cx="1487450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[Department]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317892" y="3805674"/>
            <a:ext cx="148745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FFFFFF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COLLEGE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17892" y="4099322"/>
            <a:ext cx="1487450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[College name]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008537" y="3805674"/>
            <a:ext cx="148745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FFFFFF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DATE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08537" y="4099322"/>
            <a:ext cx="1487450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[Date]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2417702" y="3803452"/>
            <a:ext cx="12700" cy="539254"/>
          </a:xfrm>
          <a:prstGeom prst="rect">
            <a:avLst/>
          </a:prstGeom>
          <a:solidFill>
            <a:srgbClr val="3F3F3F"/>
          </a:solidFill>
          <a:ln/>
        </p:spPr>
      </p:sp>
      <p:sp>
        <p:nvSpPr>
          <p:cNvPr id="15" name="Shape 13"/>
          <p:cNvSpPr/>
          <p:nvPr/>
        </p:nvSpPr>
        <p:spPr>
          <a:xfrm>
            <a:off x="4108347" y="3803452"/>
            <a:ext cx="12700" cy="539254"/>
          </a:xfrm>
          <a:prstGeom prst="rect">
            <a:avLst/>
          </a:prstGeom>
          <a:solidFill>
            <a:srgbClr val="3F3F3F"/>
          </a:solidFill>
          <a:ln/>
        </p:spPr>
      </p:sp>
      <p:sp>
        <p:nvSpPr>
          <p:cNvPr id="16" name="Shape 14"/>
          <p:cNvSpPr/>
          <p:nvPr/>
        </p:nvSpPr>
        <p:spPr>
          <a:xfrm>
            <a:off x="5798992" y="3803452"/>
            <a:ext cx="12700" cy="539254"/>
          </a:xfrm>
          <a:prstGeom prst="rect">
            <a:avLst/>
          </a:prstGeom>
          <a:solidFill>
            <a:srgbClr val="3F3F3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89458" cy="6858000"/>
          </a:xfrm>
          <a:prstGeom prst="rect">
            <a:avLst/>
          </a:prstGeom>
          <a:solidFill>
            <a:srgbClr val="0E1F40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611822"/>
            <a:ext cx="5079873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D5D5D5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09585" y="911566"/>
            <a:ext cx="4571886" cy="1793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4400" spc="-53" kern="100" dirty="0">
                <a:solidFill>
                  <a:srgbClr val="D5D5D5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Cyber scams exploit trust online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609585" y="2908697"/>
            <a:ext cx="1142971" cy="38100"/>
          </a:xfrm>
          <a:prstGeom prst="roundRect">
            <a:avLst>
              <a:gd name="adj" fmla="val 49999"/>
            </a:avLst>
          </a:prstGeom>
          <a:solidFill>
            <a:srgbClr val="9BE1FF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3172222"/>
            <a:ext cx="4571886" cy="6490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Awareness helps you spot manipulation before one click becomes a costly mistake.</a:t>
            </a:r>
            <a:endParaRPr lang="en-US" sz="1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5644952"/>
            <a:ext cx="380990" cy="381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09585" y="6141776"/>
            <a:ext cx="1422364" cy="184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spc="11" kern="1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Financial loss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4345" y="5644952"/>
            <a:ext cx="380990" cy="381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184345" y="6141776"/>
            <a:ext cx="1422364" cy="184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spc="11" kern="1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Identity theft</a:t>
            </a:r>
            <a:endParaRPr lang="en-US" sz="11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9106" y="5644952"/>
            <a:ext cx="380990" cy="3810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759106" y="6141776"/>
            <a:ext cx="1422364" cy="184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spc="11" kern="1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Privacy breaches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6222844" y="643096"/>
            <a:ext cx="5308467" cy="475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3500" spc="-42" kern="100" dirty="0">
                <a:solidFill>
                  <a:srgbClr val="ECECEC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Trust is the entry point</a:t>
            </a:r>
            <a:endParaRPr lang="en-US" sz="35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244" y="1281994"/>
            <a:ext cx="380990" cy="3810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832429" y="1283339"/>
            <a:ext cx="4698882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Where it starts</a:t>
            </a:r>
            <a:endParaRPr lang="en-US" sz="1900" dirty="0"/>
          </a:p>
        </p:txBody>
      </p:sp>
      <p:sp>
        <p:nvSpPr>
          <p:cNvPr id="16" name="Text 10"/>
          <p:cNvSpPr/>
          <p:nvPr/>
        </p:nvSpPr>
        <p:spPr>
          <a:xfrm>
            <a:off x="6832429" y="1743373"/>
            <a:ext cx="4698882" cy="486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Criminals use the internet, phones, messages, and social media to deceive people.</a:t>
            </a:r>
            <a:endParaRPr lang="en-US" sz="13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244" y="3243648"/>
            <a:ext cx="380990" cy="3810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832429" y="3244993"/>
            <a:ext cx="4698882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What they target</a:t>
            </a:r>
            <a:endParaRPr lang="en-US" sz="1900" dirty="0"/>
          </a:p>
        </p:txBody>
      </p:sp>
      <p:sp>
        <p:nvSpPr>
          <p:cNvPr id="19" name="Text 12"/>
          <p:cNvSpPr/>
          <p:nvPr/>
        </p:nvSpPr>
        <p:spPr>
          <a:xfrm>
            <a:off x="6832429" y="3705027"/>
            <a:ext cx="4698882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Money, identity, account access, and private information.</a:t>
            </a:r>
            <a:endParaRPr lang="en-US" sz="135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244" y="4961918"/>
            <a:ext cx="380990" cy="38100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832429" y="4963263"/>
            <a:ext cx="4698882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What awareness changes</a:t>
            </a:r>
            <a:endParaRPr lang="en-US" sz="1900" dirty="0"/>
          </a:p>
        </p:txBody>
      </p:sp>
      <p:sp>
        <p:nvSpPr>
          <p:cNvPr id="22" name="Text 14"/>
          <p:cNvSpPr/>
          <p:nvPr/>
        </p:nvSpPr>
        <p:spPr>
          <a:xfrm>
            <a:off x="6832429" y="5423297"/>
            <a:ext cx="4698882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You notice the manipulation before the click.</a:t>
            </a:r>
            <a:endParaRPr lang="en-US" sz="1350" dirty="0"/>
          </a:p>
        </p:txBody>
      </p:sp>
      <p:sp>
        <p:nvSpPr>
          <p:cNvPr id="23" name="Shape 15"/>
          <p:cNvSpPr/>
          <p:nvPr/>
        </p:nvSpPr>
        <p:spPr>
          <a:xfrm>
            <a:off x="6222844" y="3059509"/>
            <a:ext cx="5308467" cy="12700"/>
          </a:xfrm>
          <a:prstGeom prst="rect">
            <a:avLst/>
          </a:prstGeom>
          <a:solidFill>
            <a:srgbClr val="3F3F3F"/>
          </a:solidFill>
          <a:ln/>
        </p:spPr>
      </p:sp>
      <p:sp>
        <p:nvSpPr>
          <p:cNvPr id="24" name="Shape 16"/>
          <p:cNvSpPr/>
          <p:nvPr/>
        </p:nvSpPr>
        <p:spPr>
          <a:xfrm>
            <a:off x="6222844" y="4777780"/>
            <a:ext cx="5308467" cy="12700"/>
          </a:xfrm>
          <a:prstGeom prst="rect">
            <a:avLst/>
          </a:prstGeom>
          <a:solidFill>
            <a:srgbClr val="3F3F3F"/>
          </a:solidFill>
          <a:ln/>
        </p:spPr>
      </p:sp>
      <p:sp>
        <p:nvSpPr>
          <p:cNvPr id="25" name="Text 17"/>
          <p:cNvSpPr/>
          <p:nvPr/>
        </p:nvSpPr>
        <p:spPr>
          <a:xfrm>
            <a:off x="11819634" y="6458545"/>
            <a:ext cx="37206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spc="84" kern="100" dirty="0">
                <a:solidFill>
                  <a:srgbClr val="9D9D9D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02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822"/>
            <a:ext cx="115821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B5B5B5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THE SCAM LANDSCAPE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11566"/>
            <a:ext cx="10972526" cy="1195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4400" spc="-53" kern="100" dirty="0">
                <a:solidFill>
                  <a:srgbClr val="ECECEC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Scams show up wherever you communicate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09585" y="2310805"/>
            <a:ext cx="2743131" cy="38100"/>
          </a:xfrm>
          <a:prstGeom prst="roundRect">
            <a:avLst>
              <a:gd name="adj" fmla="val 49999"/>
            </a:avLst>
          </a:prstGeom>
          <a:solidFill>
            <a:srgbClr val="9BE1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574330"/>
            <a:ext cx="476238" cy="4762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85" y="3166213"/>
            <a:ext cx="3505112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Phishing emails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09585" y="3626247"/>
            <a:ext cx="3505112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and fake websites</a:t>
            </a:r>
            <a:endParaRPr lang="en-US" sz="15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489" y="2574330"/>
            <a:ext cx="476238" cy="4762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419489" y="3166213"/>
            <a:ext cx="3403515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UPI and QR-code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4419489" y="3626247"/>
            <a:ext cx="3403515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payment scams</a:t>
            </a:r>
            <a:endParaRPr lang="en-US" sz="15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7797" y="2574330"/>
            <a:ext cx="476238" cy="4762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127797" y="3166213"/>
            <a:ext cx="3454314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OTP and banking scams</a:t>
            </a:r>
            <a:endParaRPr lang="en-US" sz="19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5" y="4201517"/>
            <a:ext cx="476238" cy="4762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09585" y="4793401"/>
            <a:ext cx="3505112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Fake jobs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609585" y="5253434"/>
            <a:ext cx="3505112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and online part-time work offers</a:t>
            </a:r>
            <a:endParaRPr lang="en-US" sz="15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9489" y="4201517"/>
            <a:ext cx="476238" cy="47625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419489" y="4793401"/>
            <a:ext cx="7162621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Shopping and social media scams</a:t>
            </a:r>
            <a:endParaRPr lang="en-US" sz="1900" dirty="0"/>
          </a:p>
        </p:txBody>
      </p:sp>
      <p:sp>
        <p:nvSpPr>
          <p:cNvPr id="18" name="Text 11"/>
          <p:cNvSpPr/>
          <p:nvPr/>
        </p:nvSpPr>
        <p:spPr>
          <a:xfrm>
            <a:off x="11819634" y="6458545"/>
            <a:ext cx="37206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spc="84" kern="100" dirty="0">
                <a:solidFill>
                  <a:srgbClr val="9D9D9D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03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822"/>
            <a:ext cx="115821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B5B5B5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THE MANIPULATION 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11566"/>
            <a:ext cx="10972526" cy="597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4400" spc="-53" kern="100" dirty="0">
                <a:solidFill>
                  <a:srgbClr val="ECECEC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Scammers move people from trust to loss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09585" y="1712912"/>
            <a:ext cx="2743131" cy="38100"/>
          </a:xfrm>
          <a:prstGeom prst="roundRect">
            <a:avLst>
              <a:gd name="adj" fmla="val 49999"/>
            </a:avLst>
          </a:prstGeom>
          <a:solidFill>
            <a:srgbClr val="9BE1FF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1976437"/>
            <a:ext cx="11582110" cy="324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The goal is to move you through four predictable steps.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09585" y="2638866"/>
            <a:ext cx="10972526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Trust → Pressure → Mistake → Loss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09585" y="3098899"/>
            <a:ext cx="10972526" cy="1234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04800" indent="-304800">
              <a:lnSpc>
                <a:spcPct val="118000"/>
              </a:lnSpc>
              <a:buSzPct val="100000"/>
              <a:buFont typeface="+mj-lt"/>
              <a:buAutoNum type="arabicPeriod" startAt="1"/>
            </a:pPr>
            <a:r>
              <a:rPr lang="en-US" sz="1500" b="1" dirty="0">
                <a:solidFill>
                  <a:srgbClr val="D5D5D5"/>
                </a:solidFill>
                <a:latin typeface="Exo Bold" pitchFamily="34" charset="0"/>
                <a:ea typeface="Exo Bold" pitchFamily="34" charset="-122"/>
                <a:cs typeface="Exo Bold" pitchFamily="34" charset="-120"/>
              </a:rPr>
              <a:t>Trust:</a:t>
            </a:r>
            <a:pPr algn="l" marL="304800" indent="-304800">
              <a:lnSpc>
                <a:spcPct val="118000"/>
              </a:lnSpc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 impersonate a bank, police officer, brand, or support agent.</a:t>
            </a:r>
            <a:endParaRPr lang="en-US" sz="1500" dirty="0"/>
          </a:p>
          <a:p>
            <a:pPr algn="l" marL="304800" indent="-304800">
              <a:lnSpc>
                <a:spcPct val="118000"/>
              </a:lnSpc>
              <a:buSzPct val="100000"/>
              <a:buFont typeface="+mj-lt"/>
              <a:buAutoNum type="arabicPeriod" startAt="2"/>
            </a:pPr>
            <a:r>
              <a:rPr lang="en-US" sz="1500" b="1" dirty="0">
                <a:solidFill>
                  <a:srgbClr val="D5D5D5"/>
                </a:solidFill>
                <a:latin typeface="Exo Bold" pitchFamily="34" charset="0"/>
                <a:ea typeface="Exo Bold" pitchFamily="34" charset="-122"/>
                <a:cs typeface="Exo Bold" pitchFamily="34" charset="-120"/>
              </a:rPr>
              <a:t>Pressure:</a:t>
            </a:r>
            <a:pPr algn="l" marL="304800" indent="-304800">
              <a:lnSpc>
                <a:spcPct val="118000"/>
              </a:lnSpc>
              <a:buSzPct val="100000"/>
              <a:buFont typeface="+mj-lt"/>
              <a:buAutoNum type="arabicPeriod" startAt="2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 create urgency, fear, or a tempting reward.</a:t>
            </a:r>
            <a:endParaRPr lang="en-US" sz="1500" dirty="0"/>
          </a:p>
          <a:p>
            <a:pPr algn="l" marL="304800" indent="-304800">
              <a:lnSpc>
                <a:spcPct val="118000"/>
              </a:lnSpc>
              <a:buSzPct val="100000"/>
              <a:buFont typeface="+mj-lt"/>
              <a:buAutoNum type="arabicPeriod" startAt="3"/>
            </a:pPr>
            <a:r>
              <a:rPr lang="en-US" sz="1500" b="1" dirty="0">
                <a:solidFill>
                  <a:srgbClr val="D5D5D5"/>
                </a:solidFill>
                <a:latin typeface="Exo Bold" pitchFamily="34" charset="0"/>
                <a:ea typeface="Exo Bold" pitchFamily="34" charset="-122"/>
                <a:cs typeface="Exo Bold" pitchFamily="34" charset="-120"/>
              </a:rPr>
              <a:t>Mistake:</a:t>
            </a:r>
            <a:pPr algn="l" marL="304800" indent="-304800">
              <a:lnSpc>
                <a:spcPct val="118000"/>
              </a:lnSpc>
              <a:buSzPct val="100000"/>
              <a:buFont typeface="+mj-lt"/>
              <a:buAutoNum type="arabicPeriod" startAt="3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 push a victim to click, pay, install, or reveal information.</a:t>
            </a:r>
            <a:endParaRPr lang="en-US" sz="1500" dirty="0"/>
          </a:p>
          <a:p>
            <a:pPr algn="l" marL="304800" indent="-304800">
              <a:lnSpc>
                <a:spcPct val="118000"/>
              </a:lnSpc>
              <a:buSzPct val="100000"/>
              <a:buFont typeface="+mj-lt"/>
              <a:buAutoNum type="arabicPeriod" startAt="4"/>
            </a:pPr>
            <a:r>
              <a:rPr lang="en-US" sz="1500" b="1" dirty="0">
                <a:solidFill>
                  <a:srgbClr val="D5D5D5"/>
                </a:solidFill>
                <a:latin typeface="Exo Bold" pitchFamily="34" charset="0"/>
                <a:ea typeface="Exo Bold" pitchFamily="34" charset="-122"/>
                <a:cs typeface="Exo Bold" pitchFamily="34" charset="-120"/>
              </a:rPr>
              <a:t>Loss:</a:t>
            </a:r>
            <a:pPr algn="l" marL="304800" indent="-304800">
              <a:lnSpc>
                <a:spcPct val="118000"/>
              </a:lnSpc>
              <a:buSzPct val="100000"/>
              <a:buFont typeface="+mj-lt"/>
              <a:buAutoNum type="arabicPeriod" startAt="4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 money, account access, identity, or privacy is exposed.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19634" y="6458545"/>
            <a:ext cx="37206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spc="84" kern="100" dirty="0">
                <a:solidFill>
                  <a:srgbClr val="9D9D9D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04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822"/>
            <a:ext cx="115821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B5B5B5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RED FLAG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11566"/>
            <a:ext cx="10972526" cy="597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4400" spc="-53" kern="100" dirty="0">
                <a:solidFill>
                  <a:srgbClr val="ECECEC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Urgency is a red flag, not a reason to rush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09585" y="1665288"/>
            <a:ext cx="3052190" cy="304800"/>
          </a:xfrm>
          <a:prstGeom prst="roundRect">
            <a:avLst>
              <a:gd name="adj" fmla="val 3750"/>
            </a:avLst>
          </a:prstGeom>
          <a:solidFill>
            <a:srgbClr val="00364D"/>
          </a:solidFill>
          <a:ln/>
        </p:spPr>
      </p:sp>
      <p:sp>
        <p:nvSpPr>
          <p:cNvPr id="5" name="Text 3"/>
          <p:cNvSpPr/>
          <p:nvPr/>
        </p:nvSpPr>
        <p:spPr>
          <a:xfrm>
            <a:off x="723882" y="1746250"/>
            <a:ext cx="343318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192" kern="100" dirty="0">
                <a:solidFill>
                  <a:srgbClr val="D5D5D5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STOP. CHECK. VERIFY.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4984" y="2147868"/>
            <a:ext cx="380990" cy="381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19170" y="2147888"/>
            <a:ext cx="4876678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Unexpected messages requesting money</a:t>
            </a:r>
            <a:endParaRPr lang="en-US" sz="15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9042" y="2147868"/>
            <a:ext cx="380990" cy="381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83228" y="2147888"/>
            <a:ext cx="4698882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Requests for OTPs, PINs, passwords, or CVV numbers</a:t>
            </a:r>
            <a:endParaRPr lang="en-US" sz="15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984" y="2773938"/>
            <a:ext cx="380990" cy="3810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19170" y="2773958"/>
            <a:ext cx="4876678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Unknown links or suspicious attachments</a:t>
            </a:r>
            <a:endParaRPr lang="en-US" sz="15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9042" y="2773938"/>
            <a:ext cx="380990" cy="3810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883228" y="2773958"/>
            <a:ext cx="4698882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Too-good-to-be-true offers</a:t>
            </a:r>
            <a:endParaRPr lang="en-US" sz="15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984" y="3400008"/>
            <a:ext cx="380990" cy="3810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219170" y="3400028"/>
            <a:ext cx="4698882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Requests to install unknown apps or share your screen</a:t>
            </a:r>
            <a:endParaRPr lang="en-US" sz="15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9042" y="3400008"/>
            <a:ext cx="380990" cy="38100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6883228" y="3400028"/>
            <a:ext cx="4698882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Threats demanding immediate payment</a:t>
            </a:r>
            <a:endParaRPr lang="en-US" sz="1500" dirty="0"/>
          </a:p>
        </p:txBody>
      </p:sp>
      <p:sp>
        <p:nvSpPr>
          <p:cNvPr id="18" name="Shape 10"/>
          <p:cNvSpPr/>
          <p:nvPr/>
        </p:nvSpPr>
        <p:spPr>
          <a:xfrm>
            <a:off x="6089498" y="2147888"/>
            <a:ext cx="12700" cy="448270"/>
          </a:xfrm>
          <a:prstGeom prst="rect">
            <a:avLst/>
          </a:prstGeom>
          <a:solidFill>
            <a:srgbClr val="3F3F3F"/>
          </a:solidFill>
          <a:ln/>
        </p:spPr>
      </p:sp>
      <p:sp>
        <p:nvSpPr>
          <p:cNvPr id="19" name="Shape 11"/>
          <p:cNvSpPr/>
          <p:nvPr/>
        </p:nvSpPr>
        <p:spPr>
          <a:xfrm>
            <a:off x="609585" y="2589808"/>
            <a:ext cx="5486263" cy="12700"/>
          </a:xfrm>
          <a:prstGeom prst="rect">
            <a:avLst/>
          </a:prstGeom>
          <a:solidFill>
            <a:srgbClr val="3F3F3F"/>
          </a:solidFill>
          <a:ln/>
        </p:spPr>
      </p:sp>
      <p:sp>
        <p:nvSpPr>
          <p:cNvPr id="20" name="Shape 12"/>
          <p:cNvSpPr/>
          <p:nvPr/>
        </p:nvSpPr>
        <p:spPr>
          <a:xfrm>
            <a:off x="6089498" y="2596158"/>
            <a:ext cx="12700" cy="626070"/>
          </a:xfrm>
          <a:prstGeom prst="rect">
            <a:avLst/>
          </a:prstGeom>
          <a:solidFill>
            <a:srgbClr val="3F3F3F"/>
          </a:solidFill>
          <a:ln/>
        </p:spPr>
      </p:sp>
      <p:sp>
        <p:nvSpPr>
          <p:cNvPr id="21" name="Shape 13"/>
          <p:cNvSpPr/>
          <p:nvPr/>
        </p:nvSpPr>
        <p:spPr>
          <a:xfrm>
            <a:off x="6095848" y="2589808"/>
            <a:ext cx="5486263" cy="12700"/>
          </a:xfrm>
          <a:prstGeom prst="rect">
            <a:avLst/>
          </a:prstGeom>
          <a:solidFill>
            <a:srgbClr val="3F3F3F"/>
          </a:solidFill>
          <a:ln/>
        </p:spPr>
      </p:sp>
      <p:sp>
        <p:nvSpPr>
          <p:cNvPr id="22" name="Shape 14"/>
          <p:cNvSpPr/>
          <p:nvPr/>
        </p:nvSpPr>
        <p:spPr>
          <a:xfrm>
            <a:off x="609585" y="3215878"/>
            <a:ext cx="5486263" cy="12700"/>
          </a:xfrm>
          <a:prstGeom prst="rect">
            <a:avLst/>
          </a:prstGeom>
          <a:solidFill>
            <a:srgbClr val="3F3F3F"/>
          </a:solidFill>
          <a:ln/>
        </p:spPr>
      </p:sp>
      <p:sp>
        <p:nvSpPr>
          <p:cNvPr id="23" name="Shape 15"/>
          <p:cNvSpPr/>
          <p:nvPr/>
        </p:nvSpPr>
        <p:spPr>
          <a:xfrm>
            <a:off x="6089498" y="3222228"/>
            <a:ext cx="12700" cy="718741"/>
          </a:xfrm>
          <a:prstGeom prst="rect">
            <a:avLst/>
          </a:prstGeom>
          <a:solidFill>
            <a:srgbClr val="3F3F3F"/>
          </a:solidFill>
          <a:ln/>
        </p:spPr>
      </p:sp>
      <p:sp>
        <p:nvSpPr>
          <p:cNvPr id="24" name="Shape 16"/>
          <p:cNvSpPr/>
          <p:nvPr/>
        </p:nvSpPr>
        <p:spPr>
          <a:xfrm>
            <a:off x="6095848" y="3215878"/>
            <a:ext cx="5486263" cy="12700"/>
          </a:xfrm>
          <a:prstGeom prst="rect">
            <a:avLst/>
          </a:prstGeom>
          <a:solidFill>
            <a:srgbClr val="3F3F3F"/>
          </a:solidFill>
          <a:ln/>
        </p:spPr>
      </p:sp>
      <p:sp>
        <p:nvSpPr>
          <p:cNvPr id="25" name="Text 17"/>
          <p:cNvSpPr/>
          <p:nvPr/>
        </p:nvSpPr>
        <p:spPr>
          <a:xfrm>
            <a:off x="11819634" y="6458545"/>
            <a:ext cx="37206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spc="84" kern="100" dirty="0">
                <a:solidFill>
                  <a:srgbClr val="9D9D9D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05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822"/>
            <a:ext cx="115821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B5B5B5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FICTIONAL EXAMPLES · FOR LEARNING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11566"/>
            <a:ext cx="10972526" cy="597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4400" spc="-53" kern="100" dirty="0">
                <a:solidFill>
                  <a:srgbClr val="ECECEC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Three illustrative scam scenarios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09585" y="1712912"/>
            <a:ext cx="2743131" cy="38100"/>
          </a:xfrm>
          <a:prstGeom prst="roundRect">
            <a:avLst>
              <a:gd name="adj" fmla="val 49999"/>
            </a:avLst>
          </a:prstGeom>
          <a:solidFill>
            <a:srgbClr val="9BE1FF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1977962"/>
            <a:ext cx="11582110" cy="184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spc="11" kern="100" dirty="0">
                <a:solidFill>
                  <a:srgbClr val="9D9D9D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Fictional examples for learning, not verified news reports.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09585" y="3705820"/>
            <a:ext cx="3454314" cy="2542580"/>
          </a:xfrm>
          <a:prstGeom prst="rect">
            <a:avLst/>
          </a:prstGeom>
          <a:solidFill>
            <a:srgbClr val="0E1F4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179" y="3934420"/>
            <a:ext cx="380990" cy="381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38179" y="4431054"/>
            <a:ext cx="2997125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Fake job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38179" y="4891088"/>
            <a:ext cx="2997125" cy="486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A part-time offer demands a registration fee.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38179" y="5493679"/>
            <a:ext cx="2997125" cy="5530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spc="11" kern="1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Tactic: advance-fee pressure.</a:t>
            </a:r>
            <a:endParaRPr lang="en-US" sz="1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00" spc="11" kern="1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Safe response: verify the employer independently and pay nothing upfront.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68691" y="3705820"/>
            <a:ext cx="3454314" cy="2542580"/>
          </a:xfrm>
          <a:prstGeom prst="rect">
            <a:avLst/>
          </a:prstGeom>
          <a:solidFill>
            <a:srgbClr val="0E1F4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7285" y="3934420"/>
            <a:ext cx="380990" cy="3810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97285" y="4431054"/>
            <a:ext cx="2997125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Refund QR code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4597285" y="4891088"/>
            <a:ext cx="2997125" cy="486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A caller promises a refund after a QR scan.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4597285" y="5493679"/>
            <a:ext cx="2997125" cy="5530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spc="11" kern="1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Tactic: payment-request confusion.</a:t>
            </a:r>
            <a:endParaRPr lang="en-US" sz="1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00" spc="11" kern="1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Safe response: do not scan or approve a payment you do not understand.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127797" y="3705820"/>
            <a:ext cx="3454314" cy="2542580"/>
          </a:xfrm>
          <a:prstGeom prst="rect">
            <a:avLst/>
          </a:prstGeom>
          <a:solidFill>
            <a:srgbClr val="0E1F4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6391" y="3934420"/>
            <a:ext cx="380990" cy="3810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56391" y="4431054"/>
            <a:ext cx="2997125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Fake bank message</a:t>
            </a:r>
            <a:endParaRPr lang="en-US" sz="1900" dirty="0"/>
          </a:p>
        </p:txBody>
      </p:sp>
      <p:sp>
        <p:nvSpPr>
          <p:cNvPr id="19" name="Text 14"/>
          <p:cNvSpPr/>
          <p:nvPr/>
        </p:nvSpPr>
        <p:spPr>
          <a:xfrm>
            <a:off x="8356391" y="4891088"/>
            <a:ext cx="3225719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A link asks for account updates.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8356391" y="5250295"/>
            <a:ext cx="2997125" cy="737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spc="11" kern="1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Tactic: brand impersonation.</a:t>
            </a:r>
            <a:endParaRPr lang="en-US" sz="1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00" spc="11" kern="1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Safe response: open the official app or website directly and contact the bank through a trusted channel.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11819634" y="6458545"/>
            <a:ext cx="37206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spc="84" kern="100" dirty="0">
                <a:solidFill>
                  <a:srgbClr val="9D9D9D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06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822"/>
            <a:ext cx="115821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B5B5B5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EVERYDAY DEFENCE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11566"/>
            <a:ext cx="10972526" cy="597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4400" spc="-53" kern="100" dirty="0">
                <a:solidFill>
                  <a:srgbClr val="ECECEC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Small habits block most scam attempts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09585" y="1712912"/>
            <a:ext cx="2743131" cy="38100"/>
          </a:xfrm>
          <a:prstGeom prst="roundRect">
            <a:avLst>
              <a:gd name="adj" fmla="val 49999"/>
            </a:avLst>
          </a:prstGeom>
          <a:solidFill>
            <a:srgbClr val="9BE1FF"/>
          </a:solidFill>
          <a:ln/>
        </p:spPr>
      </p:sp>
      <p:sp>
        <p:nvSpPr>
          <p:cNvPr id="5" name="Shape 3"/>
          <p:cNvSpPr/>
          <p:nvPr/>
        </p:nvSpPr>
        <p:spPr>
          <a:xfrm>
            <a:off x="609585" y="1976437"/>
            <a:ext cx="3581310" cy="1900634"/>
          </a:xfrm>
          <a:prstGeom prst="rect">
            <a:avLst/>
          </a:prstGeom>
          <a:solidFill>
            <a:srgbClr val="0E1F4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578" y="2205038"/>
            <a:ext cx="380990" cy="381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3578" y="2701671"/>
            <a:ext cx="3073323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Keep secrets secret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63578" y="3161705"/>
            <a:ext cx="3073323" cy="486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Never share OTPs, PINs, passwords, or CVV numbers.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343291" y="1976437"/>
            <a:ext cx="3505112" cy="1900634"/>
          </a:xfrm>
          <a:prstGeom prst="rect">
            <a:avLst/>
          </a:prstGeom>
          <a:solidFill>
            <a:srgbClr val="0E1F4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7285" y="2205038"/>
            <a:ext cx="380990" cy="3810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97285" y="2701671"/>
            <a:ext cx="2997125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Check before clicking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4597285" y="3161705"/>
            <a:ext cx="3251119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Verify the sender before clicking links.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8000800" y="1976437"/>
            <a:ext cx="3581310" cy="1900634"/>
          </a:xfrm>
          <a:prstGeom prst="rect">
            <a:avLst/>
          </a:prstGeom>
          <a:solidFill>
            <a:srgbClr val="0E1F4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4793" y="2205038"/>
            <a:ext cx="380990" cy="3810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254793" y="2701671"/>
            <a:ext cx="3073323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Layer protection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8254793" y="3161705"/>
            <a:ext cx="3073323" cy="486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Use strong, unique passwords and multi-factor authentication.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09585" y="4029472"/>
            <a:ext cx="3581310" cy="1900634"/>
          </a:xfrm>
          <a:prstGeom prst="rect">
            <a:avLst/>
          </a:prstGeom>
          <a:solidFill>
            <a:srgbClr val="0E1F40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578" y="4258072"/>
            <a:ext cx="380990" cy="3810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63578" y="4754705"/>
            <a:ext cx="3073323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Stay updated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863578" y="5214739"/>
            <a:ext cx="3073323" cy="486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Keep phones, apps, and computers updated.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4343291" y="4029472"/>
            <a:ext cx="3505112" cy="1900634"/>
          </a:xfrm>
          <a:prstGeom prst="rect">
            <a:avLst/>
          </a:prstGeom>
          <a:solidFill>
            <a:srgbClr val="0E1F40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7285" y="4258072"/>
            <a:ext cx="380990" cy="3810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597285" y="4754705"/>
            <a:ext cx="2997125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Use trusted sources</a:t>
            </a:r>
            <a:endParaRPr lang="en-US" sz="1900" dirty="0"/>
          </a:p>
        </p:txBody>
      </p:sp>
      <p:sp>
        <p:nvSpPr>
          <p:cNvPr id="24" name="Text 17"/>
          <p:cNvSpPr/>
          <p:nvPr/>
        </p:nvSpPr>
        <p:spPr>
          <a:xfrm>
            <a:off x="4597285" y="5214739"/>
            <a:ext cx="2997125" cy="486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Download apps only from trusted sources.</a:t>
            </a:r>
            <a:endParaRPr lang="en-US" sz="1350" dirty="0"/>
          </a:p>
        </p:txBody>
      </p:sp>
      <p:sp>
        <p:nvSpPr>
          <p:cNvPr id="25" name="Shape 18"/>
          <p:cNvSpPr/>
          <p:nvPr/>
        </p:nvSpPr>
        <p:spPr>
          <a:xfrm>
            <a:off x="8000800" y="4029472"/>
            <a:ext cx="3581310" cy="1900634"/>
          </a:xfrm>
          <a:prstGeom prst="rect">
            <a:avLst/>
          </a:prstGeom>
          <a:solidFill>
            <a:srgbClr val="0E1F40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54793" y="4258072"/>
            <a:ext cx="380990" cy="38100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254793" y="4754705"/>
            <a:ext cx="3073323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Verify independently</a:t>
            </a:r>
            <a:endParaRPr lang="en-US" sz="1900" dirty="0"/>
          </a:p>
        </p:txBody>
      </p:sp>
      <p:sp>
        <p:nvSpPr>
          <p:cNvPr id="28" name="Text 20"/>
          <p:cNvSpPr/>
          <p:nvPr/>
        </p:nvSpPr>
        <p:spPr>
          <a:xfrm>
            <a:off x="8254793" y="5214739"/>
            <a:ext cx="3073323" cy="486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Verify job offers and payment requests independently.</a:t>
            </a:r>
            <a:endParaRPr lang="en-US" sz="1350" dirty="0"/>
          </a:p>
        </p:txBody>
      </p:sp>
      <p:sp>
        <p:nvSpPr>
          <p:cNvPr id="29" name="Text 21"/>
          <p:cNvSpPr/>
          <p:nvPr/>
        </p:nvSpPr>
        <p:spPr>
          <a:xfrm>
            <a:off x="609585" y="6109430"/>
            <a:ext cx="11582110" cy="184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spc="11" kern="100" dirty="0">
                <a:solidFill>
                  <a:srgbClr val="9D9D9D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Never approve a payment request to receive money without understanding the transaction.</a:t>
            </a:r>
            <a:endParaRPr lang="en-US" sz="1100" dirty="0"/>
          </a:p>
        </p:txBody>
      </p:sp>
      <p:sp>
        <p:nvSpPr>
          <p:cNvPr id="30" name="Text 22"/>
          <p:cNvSpPr/>
          <p:nvPr/>
        </p:nvSpPr>
        <p:spPr>
          <a:xfrm>
            <a:off x="11819634" y="6458545"/>
            <a:ext cx="37206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spc="84" kern="100" dirty="0">
                <a:solidFill>
                  <a:srgbClr val="9D9D9D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07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646376"/>
            <a:ext cx="115821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FFFFFF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INCIDENT RESPONSE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1938596"/>
            <a:ext cx="10972526" cy="475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3500" spc="-42" kern="100" dirty="0">
                <a:solidFill>
                  <a:srgbClr val="FFFFFF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If money or accounts are at risk, act fast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09585" y="2625130"/>
            <a:ext cx="2743131" cy="38100"/>
          </a:xfrm>
          <a:prstGeom prst="roundRect">
            <a:avLst>
              <a:gd name="adj" fmla="val 49999"/>
            </a:avLst>
          </a:prstGeom>
          <a:solidFill>
            <a:srgbClr val="9BE1FF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2888655"/>
            <a:ext cx="10972526" cy="1876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04800" indent="-304800">
              <a:lnSpc>
                <a:spcPct val="118000"/>
              </a:lnSpc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FFFFFF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Contact your bank or payment provider immediately.</a:t>
            </a:r>
            <a:endParaRPr lang="en-US" sz="1500" dirty="0"/>
          </a:p>
          <a:p>
            <a:pPr algn="l" marL="304800" indent="-304800">
              <a:lnSpc>
                <a:spcPct val="118000"/>
              </a:lnSpc>
              <a:buSzPct val="100000"/>
              <a:buFont typeface="+mj-lt"/>
              <a:buAutoNum type="arabicPeriod" startAt="2"/>
            </a:pPr>
            <a:r>
              <a:rPr lang="en-US" sz="1500" dirty="0">
                <a:solidFill>
                  <a:srgbClr val="FFFFFF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In India, report financial cyber fraud by calling </a:t>
            </a:r>
            <a:pPr algn="l" marL="304800" indent="-304800">
              <a:lnSpc>
                <a:spcPct val="118000"/>
              </a:lnSpc>
              <a:buSzPct val="100000"/>
              <a:buFont typeface="+mj-lt"/>
              <a:buAutoNum type="arabicPeriod" startAt="2"/>
            </a:pPr>
            <a:r>
              <a:rPr lang="en-US" sz="1500" b="1" dirty="0">
                <a:solidFill>
                  <a:srgbClr val="FFFFFF"/>
                </a:solidFill>
                <a:latin typeface="Exo Bold" pitchFamily="34" charset="0"/>
                <a:ea typeface="Exo Bold" pitchFamily="34" charset="-122"/>
                <a:cs typeface="Exo Bold" pitchFamily="34" charset="-120"/>
              </a:rPr>
              <a:t>1930</a:t>
            </a:r>
            <a:pPr algn="l" marL="304800" indent="-304800">
              <a:lnSpc>
                <a:spcPct val="118000"/>
              </a:lnSpc>
              <a:buSzPct val="100000"/>
              <a:buFont typeface="+mj-lt"/>
              <a:buAutoNum type="arabicPeriod" startAt="2"/>
            </a:pPr>
            <a:r>
              <a:rPr lang="en-US" sz="1500" dirty="0">
                <a:solidFill>
                  <a:srgbClr val="FFFFFF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 as soon as possible.</a:t>
            </a:r>
            <a:endParaRPr lang="en-US" sz="1500" dirty="0"/>
          </a:p>
          <a:p>
            <a:pPr algn="l" marL="304800" indent="-304800">
              <a:lnSpc>
                <a:spcPct val="118000"/>
              </a:lnSpc>
              <a:buSzPct val="100000"/>
              <a:buFont typeface="+mj-lt"/>
              <a:buAutoNum type="arabicPeriod" startAt="3"/>
            </a:pPr>
            <a:r>
              <a:rPr lang="en-US" sz="1500" dirty="0">
                <a:solidFill>
                  <a:srgbClr val="FFFFFF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Submit a complaint at the official National Cyber Crime Reporting Portal: cybercrime.gov.in</a:t>
            </a:r>
            <a:endParaRPr lang="en-US" sz="1500" dirty="0"/>
          </a:p>
          <a:p>
            <a:pPr algn="l" marL="304800" indent="-304800">
              <a:lnSpc>
                <a:spcPct val="118000"/>
              </a:lnSpc>
              <a:buSzPct val="100000"/>
              <a:buFont typeface="+mj-lt"/>
              <a:buAutoNum type="arabicPeriod" startAt="4"/>
            </a:pPr>
            <a:r>
              <a:rPr lang="en-US" sz="1500" dirty="0">
                <a:solidFill>
                  <a:srgbClr val="FFFFFF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Save transaction IDs, screenshots, messages, phone numbers, and other evidence.</a:t>
            </a:r>
            <a:endParaRPr lang="en-US" sz="1500" dirty="0"/>
          </a:p>
          <a:p>
            <a:pPr algn="l" marL="304800" indent="-304800">
              <a:lnSpc>
                <a:spcPct val="118000"/>
              </a:lnSpc>
              <a:buSzPct val="100000"/>
              <a:buFont typeface="+mj-lt"/>
              <a:buAutoNum type="arabicPeriod" startAt="5"/>
            </a:pPr>
            <a:r>
              <a:rPr lang="en-US" sz="1500" dirty="0">
                <a:solidFill>
                  <a:srgbClr val="FFFFFF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Change compromised passwords and secure affected accounts.</a:t>
            </a:r>
            <a:endParaRPr lang="en-US" sz="1500" dirty="0"/>
          </a:p>
          <a:p>
            <a:pPr algn="l" marL="304800" indent="-304800">
              <a:lnSpc>
                <a:spcPct val="118000"/>
              </a:lnSpc>
              <a:buSzPct val="100000"/>
              <a:buFont typeface="+mj-lt"/>
              <a:buAutoNum type="arabicPeriod" startAt="6"/>
            </a:pPr>
            <a:r>
              <a:rPr lang="en-US" sz="1500" dirty="0">
                <a:solidFill>
                  <a:srgbClr val="FFFFFF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Inform the platform and local police when appropriate.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09585" y="4943277"/>
            <a:ext cx="11582110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Quick reporting may help authorities and banks take action, but recovery is not guaranteed.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819634" y="6458545"/>
            <a:ext cx="37206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spc="84" kern="100" dirty="0">
                <a:solidFill>
                  <a:srgbClr val="9D9D9D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08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822"/>
            <a:ext cx="4023319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B5B5B5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CHECK YOUR INSTINCTS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11566"/>
            <a:ext cx="3413734" cy="1195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4400" spc="-53" kern="100" dirty="0">
                <a:solidFill>
                  <a:srgbClr val="ECECEC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Cyber safety quiz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09585" y="2310805"/>
            <a:ext cx="853359" cy="38100"/>
          </a:xfrm>
          <a:prstGeom prst="roundRect">
            <a:avLst>
              <a:gd name="adj" fmla="val 49999"/>
            </a:avLst>
          </a:prstGeom>
          <a:solidFill>
            <a:srgbClr val="9BE1FF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2574330"/>
            <a:ext cx="3413734" cy="6490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Questions first. Answer key next.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937597" y="0"/>
            <a:ext cx="3474752" cy="6858000"/>
          </a:xfrm>
          <a:prstGeom prst="rect">
            <a:avLst/>
          </a:prstGeom>
          <a:solidFill>
            <a:srgbClr val="0E1F40"/>
          </a:solidFill>
          <a:ln/>
        </p:spPr>
      </p:sp>
      <p:sp>
        <p:nvSpPr>
          <p:cNvPr id="7" name="Shape 5"/>
          <p:cNvSpPr/>
          <p:nvPr/>
        </p:nvSpPr>
        <p:spPr>
          <a:xfrm>
            <a:off x="5242389" y="279400"/>
            <a:ext cx="1735392" cy="304800"/>
          </a:xfrm>
          <a:prstGeom prst="roundRect">
            <a:avLst>
              <a:gd name="adj" fmla="val 3750"/>
            </a:avLst>
          </a:prstGeom>
          <a:solidFill>
            <a:srgbClr val="00364D"/>
          </a:solidFill>
          <a:ln/>
        </p:spPr>
      </p:sp>
      <p:sp>
        <p:nvSpPr>
          <p:cNvPr id="8" name="Text 6"/>
          <p:cNvSpPr/>
          <p:nvPr/>
        </p:nvSpPr>
        <p:spPr>
          <a:xfrm>
            <a:off x="5356686" y="360363"/>
            <a:ext cx="211638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192" kern="100" dirty="0">
                <a:solidFill>
                  <a:srgbClr val="D5D5D5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242389" y="762000"/>
            <a:ext cx="2865167" cy="2637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04800" indent="-304800">
              <a:lnSpc>
                <a:spcPct val="118000"/>
              </a:lnSpc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Share your OTP with a “bank employee”?</a:t>
            </a:r>
            <a:endParaRPr lang="en-US" sz="1500" dirty="0"/>
          </a:p>
          <a:p>
            <a:pPr algn="l" marL="304800" indent="-304800">
              <a:lnSpc>
                <a:spcPct val="118000"/>
              </a:lnSpc>
              <a:buSzPct val="100000"/>
              <a:buFont typeface="+mj-lt"/>
              <a:buAutoNum type="arabicPeriod" startAt="2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Before clicking an unknown link?</a:t>
            </a:r>
            <a:endParaRPr lang="en-US" sz="1500" dirty="0"/>
          </a:p>
          <a:p>
            <a:pPr algn="l" marL="304800" indent="-304800">
              <a:lnSpc>
                <a:spcPct val="118000"/>
              </a:lnSpc>
              <a:buSzPct val="100000"/>
              <a:buFont typeface="+mj-lt"/>
              <a:buAutoNum type="arabicPeriod" startAt="3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Is every QR code safe?</a:t>
            </a:r>
            <a:endParaRPr lang="en-US" sz="1500" dirty="0"/>
          </a:p>
          <a:p>
            <a:pPr algn="l" marL="304800" indent="-304800">
              <a:lnSpc>
                <a:spcPct val="118000"/>
              </a:lnSpc>
              <a:buSzPct val="100000"/>
              <a:buFont typeface="+mj-lt"/>
              <a:buAutoNum type="arabicPeriod" startAt="4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India’s cyber financial fraud helpline?</a:t>
            </a:r>
            <a:endParaRPr lang="en-US" sz="1500" dirty="0"/>
          </a:p>
          <a:p>
            <a:pPr algn="l" marL="304800" indent="-304800">
              <a:lnSpc>
                <a:spcPct val="118000"/>
              </a:lnSpc>
              <a:buSzPct val="100000"/>
              <a:buFont typeface="+mj-lt"/>
              <a:buAutoNum type="arabicPeriod" startAt="5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After an unauthorized transaction?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717042" y="0"/>
            <a:ext cx="3474653" cy="6858000"/>
          </a:xfrm>
          <a:prstGeom prst="rect">
            <a:avLst/>
          </a:prstGeom>
          <a:solidFill>
            <a:srgbClr val="07303A"/>
          </a:solidFill>
          <a:ln/>
        </p:spPr>
      </p:sp>
      <p:sp>
        <p:nvSpPr>
          <p:cNvPr id="11" name="Shape 9"/>
          <p:cNvSpPr/>
          <p:nvPr/>
        </p:nvSpPr>
        <p:spPr>
          <a:xfrm>
            <a:off x="9021834" y="279400"/>
            <a:ext cx="1991370" cy="304800"/>
          </a:xfrm>
          <a:prstGeom prst="roundRect">
            <a:avLst>
              <a:gd name="adj" fmla="val 3750"/>
            </a:avLst>
          </a:prstGeom>
          <a:solidFill>
            <a:srgbClr val="00364D"/>
          </a:solidFill>
          <a:ln/>
        </p:spPr>
      </p:sp>
      <p:sp>
        <p:nvSpPr>
          <p:cNvPr id="12" name="Text 10"/>
          <p:cNvSpPr/>
          <p:nvPr/>
        </p:nvSpPr>
        <p:spPr>
          <a:xfrm>
            <a:off x="9136132" y="360363"/>
            <a:ext cx="23723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192" kern="100" dirty="0">
                <a:solidFill>
                  <a:srgbClr val="D5D5D5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ANSWER KEY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021834" y="762000"/>
            <a:ext cx="2865068" cy="20964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04800" indent="-304800">
              <a:lnSpc>
                <a:spcPct val="118000"/>
              </a:lnSpc>
              <a:buSzPct val="100000"/>
              <a:buFont typeface="+mj-lt"/>
              <a:buAutoNum type="arabicPeriod" startAt="1"/>
            </a:pPr>
            <a:r>
              <a:rPr lang="en-US" sz="1500" b="1" dirty="0">
                <a:solidFill>
                  <a:srgbClr val="FFFFFF"/>
                </a:solidFill>
                <a:latin typeface="Exo Bold" pitchFamily="34" charset="0"/>
                <a:ea typeface="Exo Bold" pitchFamily="34" charset="-122"/>
                <a:cs typeface="Exo Bold" pitchFamily="34" charset="-120"/>
              </a:rPr>
              <a:t>No.</a:t>
            </a:r>
            <a:endParaRPr lang="en-US" sz="1500" dirty="0"/>
          </a:p>
          <a:p>
            <a:pPr algn="l" marL="304800" indent="-304800">
              <a:lnSpc>
                <a:spcPct val="118000"/>
              </a:lnSpc>
              <a:buSzPct val="100000"/>
              <a:buFont typeface="+mj-lt"/>
              <a:buAutoNum type="arabicPeriod" startAt="2"/>
            </a:pPr>
            <a:r>
              <a:rPr lang="en-US" sz="1500" b="1" dirty="0">
                <a:solidFill>
                  <a:srgbClr val="FFFFFF"/>
                </a:solidFill>
                <a:latin typeface="Exo Bold" pitchFamily="34" charset="0"/>
                <a:ea typeface="Exo Bold" pitchFamily="34" charset="-122"/>
                <a:cs typeface="Exo Bold" pitchFamily="34" charset="-120"/>
              </a:rPr>
              <a:t>Verify the sender and destination.</a:t>
            </a:r>
            <a:endParaRPr lang="en-US" sz="1500" dirty="0"/>
          </a:p>
          <a:p>
            <a:pPr algn="l" marL="304800" indent="-304800">
              <a:lnSpc>
                <a:spcPct val="118000"/>
              </a:lnSpc>
              <a:buSzPct val="100000"/>
              <a:buFont typeface="+mj-lt"/>
              <a:buAutoNum type="arabicPeriod" startAt="3"/>
            </a:pPr>
            <a:r>
              <a:rPr lang="en-US" sz="1500" b="1" dirty="0">
                <a:solidFill>
                  <a:srgbClr val="FFFFFF"/>
                </a:solidFill>
                <a:latin typeface="Exo Bold" pitchFamily="34" charset="0"/>
                <a:ea typeface="Exo Bold" pitchFamily="34" charset="-122"/>
                <a:cs typeface="Exo Bold" pitchFamily="34" charset="-120"/>
              </a:rPr>
              <a:t>No.</a:t>
            </a:r>
            <a:endParaRPr lang="en-US" sz="1500" dirty="0"/>
          </a:p>
          <a:p>
            <a:pPr algn="l" marL="304800" indent="-304800">
              <a:lnSpc>
                <a:spcPct val="118000"/>
              </a:lnSpc>
              <a:buSzPct val="100000"/>
              <a:buFont typeface="+mj-lt"/>
              <a:buAutoNum type="arabicPeriod" startAt="4"/>
            </a:pPr>
            <a:r>
              <a:rPr lang="en-US" sz="1500" b="1" dirty="0">
                <a:solidFill>
                  <a:srgbClr val="FFFFFF"/>
                </a:solidFill>
                <a:latin typeface="Exo Bold" pitchFamily="34" charset="0"/>
                <a:ea typeface="Exo Bold" pitchFamily="34" charset="-122"/>
                <a:cs typeface="Exo Bold" pitchFamily="34" charset="-120"/>
              </a:rPr>
              <a:t>1930.</a:t>
            </a:r>
            <a:endParaRPr lang="en-US" sz="1500" dirty="0"/>
          </a:p>
          <a:p>
            <a:pPr algn="l" marL="304800" indent="-304800">
              <a:lnSpc>
                <a:spcPct val="118000"/>
              </a:lnSpc>
              <a:buSzPct val="100000"/>
              <a:buFont typeface="+mj-lt"/>
              <a:buAutoNum type="arabicPeriod" startAt="5"/>
            </a:pPr>
            <a:r>
              <a:rPr lang="en-US" sz="1500" b="1" dirty="0">
                <a:solidFill>
                  <a:srgbClr val="FFFFFF"/>
                </a:solidFill>
                <a:latin typeface="Exo Bold" pitchFamily="34" charset="0"/>
                <a:ea typeface="Exo Bold" pitchFamily="34" charset="-122"/>
                <a:cs typeface="Exo Bold" pitchFamily="34" charset="-120"/>
              </a:rPr>
              <a:t>Contact your bank and report it immediately.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819634" y="6458545"/>
            <a:ext cx="37206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spc="84" kern="100" dirty="0">
                <a:solidFill>
                  <a:srgbClr val="9D9D9D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09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6678" cy="6858000"/>
          </a:xfrm>
          <a:prstGeom prst="rect">
            <a:avLst/>
          </a:prstGeom>
          <a:solidFill>
            <a:srgbClr val="9BE1FF"/>
          </a:solidFill>
          <a:ln/>
        </p:spPr>
      </p:sp>
      <p:sp>
        <p:nvSpPr>
          <p:cNvPr id="3" name="Text 1"/>
          <p:cNvSpPr/>
          <p:nvPr/>
        </p:nvSpPr>
        <p:spPr>
          <a:xfrm>
            <a:off x="457189" y="510222"/>
            <a:ext cx="4419489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000000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THE FIRST LINE OF DEFENCE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189" y="809966"/>
            <a:ext cx="3962301" cy="1195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4400" spc="-53" kern="100" dirty="0">
                <a:solidFill>
                  <a:srgbClr val="000000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Think before</a:t>
            </a:r>
            <a:endParaRPr lang="en-US" sz="4400" dirty="0"/>
          </a:p>
          <a:p>
            <a:pPr algn="l" indent="0" marL="0">
              <a:lnSpc>
                <a:spcPct val="89000"/>
              </a:lnSpc>
              <a:buNone/>
            </a:pPr>
            <a:r>
              <a:rPr lang="en-US" sz="4400" spc="-53" kern="100" dirty="0">
                <a:solidFill>
                  <a:srgbClr val="000000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you click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457189" y="2209205"/>
            <a:ext cx="990575" cy="38100"/>
          </a:xfrm>
          <a:prstGeom prst="roundRect">
            <a:avLst>
              <a:gd name="adj" fmla="val 49999"/>
            </a:avLst>
          </a:prstGeom>
          <a:solidFill>
            <a:srgbClr val="3F3F3F"/>
          </a:solidFill>
          <a:ln/>
        </p:spPr>
      </p:sp>
      <p:sp>
        <p:nvSpPr>
          <p:cNvPr id="6" name="Text 4"/>
          <p:cNvSpPr/>
          <p:nvPr/>
        </p:nvSpPr>
        <p:spPr>
          <a:xfrm>
            <a:off x="457189" y="5700911"/>
            <a:ext cx="3962301" cy="6490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Your Awareness Is Your First Line of Defence.</a:t>
            </a:r>
            <a:endParaRPr lang="en-US" sz="1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0065" y="508000"/>
            <a:ext cx="380990" cy="38100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423" y="508000"/>
            <a:ext cx="380990" cy="38100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2781" y="508000"/>
            <a:ext cx="380990" cy="38100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9139" y="508000"/>
            <a:ext cx="380990" cy="3810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410065" y="3034109"/>
            <a:ext cx="6248244" cy="1555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04800" indent="-304800">
              <a:lnSpc>
                <a:spcPct val="118000"/>
              </a:lnSpc>
              <a:buSzPct val="100000"/>
              <a:buChar char="•"/>
            </a:pPr>
            <a:r>
              <a:rPr lang="en-US" sz="1500" b="1" dirty="0">
                <a:solidFill>
                  <a:srgbClr val="D5D5D5"/>
                </a:solidFill>
                <a:latin typeface="Exo Bold" pitchFamily="34" charset="0"/>
                <a:ea typeface="Exo Bold" pitchFamily="34" charset="-122"/>
                <a:cs typeface="Exo Bold" pitchFamily="34" charset="-120"/>
              </a:rPr>
              <a:t>Stop:</a:t>
            </a:r>
            <a:pPr algn="l" marL="304800" indent="-304800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 pause before responding.</a:t>
            </a:r>
            <a:endParaRPr lang="en-US" sz="1500" dirty="0"/>
          </a:p>
          <a:p>
            <a:pPr algn="l" marL="304800" indent="-304800">
              <a:lnSpc>
                <a:spcPct val="118000"/>
              </a:lnSpc>
              <a:buSzPct val="100000"/>
              <a:buChar char="•"/>
            </a:pPr>
            <a:r>
              <a:rPr lang="en-US" sz="1500" b="1" dirty="0">
                <a:solidFill>
                  <a:srgbClr val="D5D5D5"/>
                </a:solidFill>
                <a:latin typeface="Exo Bold" pitchFamily="34" charset="0"/>
                <a:ea typeface="Exo Bold" pitchFamily="34" charset="-122"/>
                <a:cs typeface="Exo Bold" pitchFamily="34" charset="-120"/>
              </a:rPr>
              <a:t>Verify:</a:t>
            </a:r>
            <a:pPr algn="l" marL="304800" indent="-304800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 confirm the sender, link, request, and payment flow.</a:t>
            </a:r>
            <a:endParaRPr lang="en-US" sz="1500" dirty="0"/>
          </a:p>
          <a:p>
            <a:pPr algn="l" marL="304800" indent="-304800">
              <a:lnSpc>
                <a:spcPct val="118000"/>
              </a:lnSpc>
              <a:buSzPct val="100000"/>
              <a:buChar char="•"/>
            </a:pPr>
            <a:r>
              <a:rPr lang="en-US" sz="1500" b="1" dirty="0">
                <a:solidFill>
                  <a:srgbClr val="D5D5D5"/>
                </a:solidFill>
                <a:latin typeface="Exo Bold" pitchFamily="34" charset="0"/>
                <a:ea typeface="Exo Bold" pitchFamily="34" charset="-122"/>
                <a:cs typeface="Exo Bold" pitchFamily="34" charset="-120"/>
              </a:rPr>
              <a:t>Protect:</a:t>
            </a:r>
            <a:pPr algn="l" marL="304800" indent="-304800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 secure accounts and report suspicious activity quickly.</a:t>
            </a:r>
            <a:endParaRPr lang="en-US" sz="1500" dirty="0"/>
          </a:p>
          <a:p>
            <a:pPr algn="l" marL="304800" indent="-304800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Never share confidential banking information.</a:t>
            </a:r>
            <a:endParaRPr lang="en-US" sz="1500" dirty="0"/>
          </a:p>
          <a:p>
            <a:pPr algn="l" marL="304800" indent="-304800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Help friends and family practise cyber safety.</a:t>
            </a:r>
            <a:endParaRPr lang="en-US" sz="1500" dirty="0"/>
          </a:p>
        </p:txBody>
      </p:sp>
      <p:sp>
        <p:nvSpPr>
          <p:cNvPr id="12" name="Text 6"/>
          <p:cNvSpPr/>
          <p:nvPr/>
        </p:nvSpPr>
        <p:spPr>
          <a:xfrm>
            <a:off x="11819634" y="6458545"/>
            <a:ext cx="37206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spc="84" kern="100" dirty="0">
                <a:solidFill>
                  <a:srgbClr val="9D9D9D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10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2026-10-10T05:36:28Z</dcterms:created>
  <dcterms:modified xsi:type="dcterms:W3CDTF">2026-10-10T05:36:28Z</dcterms:modified>
</cp:coreProperties>
</file>